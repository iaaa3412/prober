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1675"/>
  <p:notesSz cx="6858000" cy="9144000"/>
  <p:embeddedFontLst>
    <p:embeddedFont>
      <p:font typeface="Lexend ExtraBold"/>
      <p:bold r:id="rId20"/>
    </p:embeddedFont>
    <p:embeddedFont>
      <p:font typeface="Quattrocento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imwuNPxdJbDh4v8U4JCqF+ZPZj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exendExtraBold-bold.fntdata"/><Relationship Id="rId22" Type="http://schemas.openxmlformats.org/officeDocument/2006/relationships/font" Target="fonts/QuattrocentoSans-bold.fntdata"/><Relationship Id="rId21" Type="http://schemas.openxmlformats.org/officeDocument/2006/relationships/font" Target="fonts/QuattrocentoSans-regular.fntdata"/><Relationship Id="rId24" Type="http://schemas.openxmlformats.org/officeDocument/2006/relationships/font" Target="fonts/QuattrocentoSans-boldItalic.fntdata"/><Relationship Id="rId23" Type="http://schemas.openxmlformats.org/officeDocument/2006/relationships/font" Target="fonts/QuattrocentoSans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a5150f59c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fa5150f59c_1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a5150f59c_1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fa5150f59c_1_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a5150f59c_1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g3fa5150f59c_1_1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10" Type="http://schemas.openxmlformats.org/officeDocument/2006/relationships/image" Target="../media/image1.png"/><Relationship Id="rId9" Type="http://schemas.openxmlformats.org/officeDocument/2006/relationships/image" Target="../media/image8.jp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3.jpg"/><Relationship Id="rId7" Type="http://schemas.openxmlformats.org/officeDocument/2006/relationships/image" Target="../media/image1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28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20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15.png"/><Relationship Id="rId7" Type="http://schemas.openxmlformats.org/officeDocument/2006/relationships/image" Target="../media/image2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2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29.png"/><Relationship Id="rId6" Type="http://schemas.openxmlformats.org/officeDocument/2006/relationships/image" Target="../media/image1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2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2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-15087" y="0"/>
            <a:ext cx="12191700" cy="6858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-12" y="4692795"/>
            <a:ext cx="12191700" cy="50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2286000"/>
            <a:ext cx="103326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FFFFF"/>
                </a:solidFill>
                <a:latin typeface="Lexend ExtraBold"/>
                <a:ea typeface="Lexend ExtraBold"/>
                <a:cs typeface="Lexend ExtraBold"/>
                <a:sym typeface="Lexend ExtraBold"/>
              </a:rPr>
              <a:t>Electrical Prober</a:t>
            </a:r>
            <a:endParaRPr sz="4800">
              <a:solidFill>
                <a:srgbClr val="FFFFFF"/>
              </a:solidFill>
              <a:latin typeface="Lexend ExtraBold"/>
              <a:ea typeface="Lexend ExtraBold"/>
              <a:cs typeface="Lexend ExtraBold"/>
              <a:sym typeface="Lexend ExtraBold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FFFFF"/>
                </a:solidFill>
                <a:latin typeface="Lexend ExtraBold"/>
                <a:ea typeface="Lexend ExtraBold"/>
                <a:cs typeface="Lexend ExtraBold"/>
                <a:sym typeface="Lexend ExtraBold"/>
              </a:rPr>
              <a:t>Software</a:t>
            </a:r>
            <a:endParaRPr sz="4800">
              <a:solidFill>
                <a:srgbClr val="FFFFFF"/>
              </a:solidFill>
              <a:latin typeface="Lexend ExtraBold"/>
              <a:ea typeface="Lexend ExtraBold"/>
              <a:cs typeface="Lexend ExtraBold"/>
              <a:sym typeface="Lexend ExtraBold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4777375"/>
            <a:ext cx="10332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Overview</a:t>
            </a:r>
            <a:endParaRPr sz="1900"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5211455"/>
            <a:ext cx="5486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Abdullah Ahmed</a:t>
            </a:r>
            <a:endParaRPr sz="1800"/>
          </a:p>
        </p:txBody>
      </p:sp>
      <p:pic>
        <p:nvPicPr>
          <p:cNvPr descr="image.png"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9269" y="414115"/>
            <a:ext cx="2710375" cy="71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 title="ottologo7.png"/>
          <p:cNvPicPr preferRelativeResize="0"/>
          <p:nvPr/>
        </p:nvPicPr>
        <p:blipFill rotWithShape="1">
          <a:blip r:embed="rId4">
            <a:alphaModFix/>
          </a:blip>
          <a:srcRect b="29016" l="33754" r="31376" t="25376"/>
          <a:stretch/>
        </p:blipFill>
        <p:spPr>
          <a:xfrm>
            <a:off x="7070525" y="1044988"/>
            <a:ext cx="3188400" cy="3127750"/>
          </a:xfrm>
          <a:prstGeom prst="rect">
            <a:avLst/>
          </a:prstGeom>
          <a:noFill/>
          <a:ln>
            <a:noFill/>
          </a:ln>
          <a:effectLst>
            <a:outerShdw blurRad="342900" rotWithShape="0" algn="bl" dir="5460000" dist="266700">
              <a:srgbClr val="000000">
                <a:alpha val="41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BACKGROUND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This Project Exists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693790" y="1759835"/>
            <a:ext cx="5486400" cy="3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lang="en-US" sz="2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Programs are no longer compatible with new operating systems and drivers.</a:t>
            </a:r>
            <a:endParaRPr sz="2300"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lang="en-US" sz="2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Licenses are expensive, need for a transition to open source software</a:t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Our old system was hardcoded and not configurable or transparent.</a:t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pic>
        <p:nvPicPr>
          <p:cNvPr descr="atomica_transparent.png" id="102" name="Google Shape;10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10856" y="327800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103" name="Google Shape;10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" title="imag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61747" y="1759822"/>
            <a:ext cx="3338350" cy="3338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a5150f59c_1_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g3fa5150f59c_1_3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3fa5150f59c_1_3"/>
          <p:cNvSpPr/>
          <p:nvPr/>
        </p:nvSpPr>
        <p:spPr>
          <a:xfrm>
            <a:off x="0" y="1051560"/>
            <a:ext cx="12191700" cy="50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fa5150f59c_1_3"/>
          <p:cNvSpPr txBox="1"/>
          <p:nvPr/>
        </p:nvSpPr>
        <p:spPr>
          <a:xfrm>
            <a:off x="502920" y="109728"/>
            <a:ext cx="9144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BACKGROUND</a:t>
            </a:r>
            <a:endParaRPr/>
          </a:p>
        </p:txBody>
      </p:sp>
      <p:sp>
        <p:nvSpPr>
          <p:cNvPr id="113" name="Google Shape;113;g3fa5150f59c_1_3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</a:t>
            </a: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 this Software Accomplishes</a:t>
            </a:r>
            <a:endParaRPr/>
          </a:p>
        </p:txBody>
      </p:sp>
      <p:sp>
        <p:nvSpPr>
          <p:cNvPr id="114" name="Google Shape;114;g3fa5150f59c_1_3"/>
          <p:cNvSpPr txBox="1"/>
          <p:nvPr/>
        </p:nvSpPr>
        <p:spPr>
          <a:xfrm>
            <a:off x="693790" y="1759835"/>
            <a:ext cx="5486400" cy="44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lang="en-US" sz="2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Allow for windows 10 and up compatibility with GPIB. </a:t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</a:t>
            </a:r>
            <a:r>
              <a:rPr b="1" lang="en-US" sz="2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Transition from Labview/VB to Python</a:t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Allow for configurability, recipe creation, flexibility</a:t>
            </a:r>
            <a:endParaRPr b="1" sz="260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5" name="Google Shape;115;g3fa5150f59c_1_3"/>
          <p:cNvSpPr txBox="1"/>
          <p:nvPr/>
        </p:nvSpPr>
        <p:spPr>
          <a:xfrm>
            <a:off x="11368735" y="6446520"/>
            <a:ext cx="5487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pic>
        <p:nvPicPr>
          <p:cNvPr descr="atomica_transparent.png" id="116" name="Google Shape;116;g3fa5150f59c_1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117" name="Google Shape;117;g3fa5150f59c_1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g3fa5150f59c_1_3" title="imag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62125" y="1379063"/>
            <a:ext cx="1111300" cy="111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g3fa5150f59c_1_3"/>
          <p:cNvSpPr/>
          <p:nvPr/>
        </p:nvSpPr>
        <p:spPr>
          <a:xfrm>
            <a:off x="9222950" y="1899475"/>
            <a:ext cx="604500" cy="27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g3fa5150f59c_1_3" title="downloa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13357" y="2873350"/>
            <a:ext cx="1677168" cy="111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3fa5150f59c_1_3" title="image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325050" y="3160800"/>
            <a:ext cx="1385450" cy="138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3fa5150f59c_1_3"/>
          <p:cNvSpPr/>
          <p:nvPr/>
        </p:nvSpPr>
        <p:spPr>
          <a:xfrm>
            <a:off x="9323675" y="3531400"/>
            <a:ext cx="604500" cy="27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g3fa5150f59c_1_3" title="images.jpg"/>
          <p:cNvPicPr preferRelativeResize="0"/>
          <p:nvPr/>
        </p:nvPicPr>
        <p:blipFill rotWithShape="1">
          <a:blip r:embed="rId8">
            <a:alphaModFix/>
          </a:blip>
          <a:srcRect b="25306" l="0" r="0" t="0"/>
          <a:stretch/>
        </p:blipFill>
        <p:spPr>
          <a:xfrm>
            <a:off x="10217925" y="5263700"/>
            <a:ext cx="1965800" cy="138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fa5150f59c_1_3"/>
          <p:cNvSpPr/>
          <p:nvPr/>
        </p:nvSpPr>
        <p:spPr>
          <a:xfrm>
            <a:off x="9613425" y="5817963"/>
            <a:ext cx="604500" cy="27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g3fa5150f59c_1_3" title="download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78475" y="5633441"/>
            <a:ext cx="1548300" cy="8685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g3fa5150f59c_1_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617675" y="4127950"/>
            <a:ext cx="2605275" cy="81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OVERVIEW</a:t>
            </a:r>
            <a:endParaRPr/>
          </a:p>
        </p:txBody>
      </p:sp>
      <p:sp>
        <p:nvSpPr>
          <p:cNvPr id="135" name="Google Shape;135;p3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First Look</a:t>
            </a:r>
            <a:endParaRPr/>
          </a:p>
        </p:txBody>
      </p:sp>
      <p:sp>
        <p:nvSpPr>
          <p:cNvPr id="136" name="Google Shape;136;p3"/>
          <p:cNvSpPr txBox="1"/>
          <p:nvPr/>
        </p:nvSpPr>
        <p:spPr>
          <a:xfrm>
            <a:off x="2567900" y="6565491"/>
            <a:ext cx="5577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Live view — position, pass/fail, and yield update in real time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pic>
        <p:nvPicPr>
          <p:cNvPr descr="atomica_transparent.png" id="138" name="Google Shape;13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3431" y="342900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139" name="Google Shape;13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9529" y="1174075"/>
            <a:ext cx="10203331" cy="5463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MODERNIZING THE BENCH</a:t>
            </a:r>
            <a:endParaRPr/>
          </a:p>
        </p:txBody>
      </p:sp>
      <p:sp>
        <p:nvSpPr>
          <p:cNvPr id="149" name="Google Shape;149;p4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</a:t>
            </a: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Program, Any Machine</a:t>
            </a:r>
            <a:endParaRPr/>
          </a:p>
        </p:txBody>
      </p:sp>
      <p:pic>
        <p:nvPicPr>
          <p:cNvPr descr="08_electroglas.png" id="150" name="Google Shape;150;p4"/>
          <p:cNvPicPr preferRelativeResize="0"/>
          <p:nvPr/>
        </p:nvPicPr>
        <p:blipFill rotWithShape="1">
          <a:blip r:embed="rId3">
            <a:alphaModFix/>
          </a:blip>
          <a:srcRect b="92035" l="87610" r="0" t="2447"/>
          <a:stretch/>
        </p:blipFill>
        <p:spPr>
          <a:xfrm>
            <a:off x="5299975" y="3215775"/>
            <a:ext cx="1781452" cy="426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pic>
        <p:nvPicPr>
          <p:cNvPr descr="atomica_transparent.png" id="152" name="Google Shape;152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153" name="Google Shape;153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4" title="IMG_20260904_113148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2925" y="2000500"/>
            <a:ext cx="4500476" cy="3374474"/>
          </a:xfrm>
          <a:prstGeom prst="rect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5" name="Google Shape;155;p4" title="IMG_20260907_103113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378009" y="2053888"/>
            <a:ext cx="4323116" cy="3246000"/>
          </a:xfrm>
          <a:prstGeom prst="rect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DIFFERENT PHILOSOPHY</a:t>
            </a:r>
            <a:endParaRPr/>
          </a:p>
        </p:txBody>
      </p:sp>
      <p:sp>
        <p:nvSpPr>
          <p:cNvPr id="164" name="Google Shape;164;p5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Ease of Use</a:t>
            </a:r>
            <a:endParaRPr/>
          </a:p>
        </p:txBody>
      </p:sp>
      <p:sp>
        <p:nvSpPr>
          <p:cNvPr id="165" name="Google Shape;165;p5"/>
          <p:cNvSpPr txBox="1"/>
          <p:nvPr/>
        </p:nvSpPr>
        <p:spPr>
          <a:xfrm>
            <a:off x="457190" y="2209710"/>
            <a:ext cx="5394900" cy="22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8417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450"/>
              <a:buFont typeface="Quattrocento Sans"/>
              <a:buChar char="●"/>
            </a:pPr>
            <a:r>
              <a:rPr lang="en-US" sz="245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Simple recipe creation</a:t>
            </a:r>
            <a:endParaRPr sz="245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8417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450"/>
              <a:buFont typeface="Quattrocento Sans"/>
              <a:buChar char="●"/>
            </a:pPr>
            <a:r>
              <a:rPr lang="en-US" sz="245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Communication with multiple instruments</a:t>
            </a:r>
            <a:endParaRPr sz="2450">
              <a:solidFill>
                <a:srgbClr val="1118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8417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450"/>
              <a:buFont typeface="Quattrocento Sans"/>
              <a:buChar char="●"/>
            </a:pPr>
            <a:r>
              <a:rPr lang="en-US" sz="245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Compatibility with any complexity probe card or system</a:t>
            </a:r>
            <a:endParaRPr sz="2300"/>
          </a:p>
        </p:txBody>
      </p:sp>
      <p:pic>
        <p:nvPicPr>
          <p:cNvPr descr="05_recipe.png" id="166" name="Google Shape;166;p5"/>
          <p:cNvPicPr preferRelativeResize="0"/>
          <p:nvPr/>
        </p:nvPicPr>
        <p:blipFill rotWithShape="1">
          <a:blip r:embed="rId3">
            <a:alphaModFix/>
          </a:blip>
          <a:srcRect b="37161" l="15372" r="28032" t="16178"/>
          <a:stretch/>
        </p:blipFill>
        <p:spPr>
          <a:xfrm>
            <a:off x="5941602" y="2128400"/>
            <a:ext cx="6069800" cy="2689912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5"/>
          <p:cNvSpPr txBox="1"/>
          <p:nvPr/>
        </p:nvSpPr>
        <p:spPr>
          <a:xfrm>
            <a:off x="6187575" y="4932864"/>
            <a:ext cx="5577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Building a test recipe on screen — no code required</a:t>
            </a:r>
            <a:endParaRPr/>
          </a:p>
        </p:txBody>
      </p:sp>
      <p:sp>
        <p:nvSpPr>
          <p:cNvPr id="168" name="Google Shape;168;p5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pic>
        <p:nvPicPr>
          <p:cNvPr descr="atomica_transparent.png" id="169" name="Google Shape;16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170" name="Google Shape;17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CONNECTING THE LAB</a:t>
            </a:r>
            <a:endParaRPr/>
          </a:p>
        </p:txBody>
      </p:sp>
      <p:sp>
        <p:nvSpPr>
          <p:cNvPr id="179" name="Google Shape;179;p6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Language for Every </a:t>
            </a: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Hardware</a:t>
            </a:r>
            <a:endParaRPr/>
          </a:p>
        </p:txBody>
      </p:sp>
      <p:sp>
        <p:nvSpPr>
          <p:cNvPr id="180" name="Google Shape;180;p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pic>
        <p:nvPicPr>
          <p:cNvPr descr="atomica_transparent.png" id="181" name="Google Shape;1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182" name="Google Shape;18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6" title="IMG_20260904_113247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11000" y="1290862"/>
            <a:ext cx="3506214" cy="2628999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4" name="Google Shape;184;p6" title="IMG_20260904_113237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572650" y="1371450"/>
            <a:ext cx="2686050" cy="20193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5" name="Google Shape;185;p6" title="IMG_20260904_113758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6313" y="4484375"/>
            <a:ext cx="2619375" cy="196215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6" name="Google Shape;186;p6" title="IMG_20260904_113805.jpg"/>
          <p:cNvPicPr preferRelativeResize="0"/>
          <p:nvPr/>
        </p:nvPicPr>
        <p:blipFill rotWithShape="1">
          <a:blip r:embed="rId8">
            <a:alphaModFix/>
          </a:blip>
          <a:srcRect b="9804" l="0" r="8759" t="6974"/>
          <a:stretch/>
        </p:blipFill>
        <p:spPr>
          <a:xfrm>
            <a:off x="5743050" y="3710650"/>
            <a:ext cx="3903876" cy="2669975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7" name="Google Shape;187;p6"/>
          <p:cNvSpPr txBox="1"/>
          <p:nvPr/>
        </p:nvSpPr>
        <p:spPr>
          <a:xfrm>
            <a:off x="5356025" y="1578975"/>
            <a:ext cx="1111200" cy="4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Switch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7056575" y="2275650"/>
            <a:ext cx="1111200" cy="4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GPIB Bus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9861600" y="4816750"/>
            <a:ext cx="1507200" cy="4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Equipment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3587775" y="5096200"/>
            <a:ext cx="1111200" cy="4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Probe Card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5918525" y="2393250"/>
            <a:ext cx="548700" cy="2226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 rot="-5576718">
            <a:off x="10195174" y="3839766"/>
            <a:ext cx="548825" cy="222592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4800575" y="5354150"/>
            <a:ext cx="548700" cy="2226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 rot="-6879550">
            <a:off x="5253177" y="3213501"/>
            <a:ext cx="548632" cy="222437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CORE IDEA</a:t>
            </a:r>
            <a:endParaRPr/>
          </a:p>
        </p:txBody>
      </p:sp>
      <p:sp>
        <p:nvSpPr>
          <p:cNvPr id="203" name="Google Shape;203;p7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Wafer Map Builder: The Foundation</a:t>
            </a:r>
            <a:endParaRPr/>
          </a:p>
        </p:txBody>
      </p:sp>
      <p:sp>
        <p:nvSpPr>
          <p:cNvPr id="204" name="Google Shape;204;p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pic>
        <p:nvPicPr>
          <p:cNvPr descr="atomica_transparent.png" id="205" name="Google Shape;20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206" name="Google Shape;20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4188" y="2516575"/>
            <a:ext cx="2724150" cy="23812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8" name="Google Shape;208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11723" y="2056950"/>
            <a:ext cx="3006541" cy="358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9" name="Google Shape;209;p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75350" y="2357100"/>
            <a:ext cx="3453426" cy="3126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10" name="Google Shape;210;p7"/>
          <p:cNvSpPr/>
          <p:nvPr/>
        </p:nvSpPr>
        <p:spPr>
          <a:xfrm>
            <a:off x="3376900" y="3500275"/>
            <a:ext cx="548700" cy="1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7513350" y="3730075"/>
            <a:ext cx="653100" cy="1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fa5150f59c_1_7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g3fa5150f59c_1_76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fa5150f59c_1_76"/>
          <p:cNvSpPr/>
          <p:nvPr/>
        </p:nvSpPr>
        <p:spPr>
          <a:xfrm>
            <a:off x="0" y="1051560"/>
            <a:ext cx="12191700" cy="50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g3fa5150f59c_1_76"/>
          <p:cNvSpPr txBox="1"/>
          <p:nvPr/>
        </p:nvSpPr>
        <p:spPr>
          <a:xfrm>
            <a:off x="502920" y="109728"/>
            <a:ext cx="9144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CORE IDEA</a:t>
            </a:r>
            <a:endParaRPr/>
          </a:p>
        </p:txBody>
      </p:sp>
      <p:sp>
        <p:nvSpPr>
          <p:cNvPr id="220" name="Google Shape;220;g3fa5150f59c_1_76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Flexible and Multi Bench System</a:t>
            </a:r>
            <a:endParaRPr/>
          </a:p>
        </p:txBody>
      </p:sp>
      <p:sp>
        <p:nvSpPr>
          <p:cNvPr id="221" name="Google Shape;221;g3fa5150f59c_1_76"/>
          <p:cNvSpPr txBox="1"/>
          <p:nvPr/>
        </p:nvSpPr>
        <p:spPr>
          <a:xfrm>
            <a:off x="11368735" y="6446520"/>
            <a:ext cx="5487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pic>
        <p:nvPicPr>
          <p:cNvPr descr="atomica_transparent.png" id="222" name="Google Shape;222;g3fa5150f59c_1_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223" name="Google Shape;223;g3fa5150f59c_1_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g3fa5150f59c_1_7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06165" y="1166700"/>
            <a:ext cx="8354759" cy="554142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"/>
          <p:cNvSpPr/>
          <p:nvPr/>
        </p:nvSpPr>
        <p:spPr>
          <a:xfrm>
            <a:off x="0" y="0"/>
            <a:ext cx="12242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CORE IDEA, CONTINUED</a:t>
            </a:r>
            <a:endParaRPr/>
          </a:p>
        </p:txBody>
      </p:sp>
      <p:sp>
        <p:nvSpPr>
          <p:cNvPr id="233" name="Google Shape;233;p8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Visuals and Data Analysis</a:t>
            </a:r>
            <a:endParaRPr/>
          </a:p>
        </p:txBody>
      </p:sp>
      <p:sp>
        <p:nvSpPr>
          <p:cNvPr id="234" name="Google Shape;234;p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pic>
        <p:nvPicPr>
          <p:cNvPr descr="atomica_transparent.png" id="235" name="Google Shape;23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236" name="Google Shape;23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5300" y="2316775"/>
            <a:ext cx="4189675" cy="206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8"/>
          <p:cNvSpPr txBox="1"/>
          <p:nvPr/>
        </p:nvSpPr>
        <p:spPr>
          <a:xfrm>
            <a:off x="3171300" y="5338700"/>
            <a:ext cx="5394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 Data long after the run or on any computer!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6630425" y="3427700"/>
            <a:ext cx="447600" cy="193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4572000" y="3262075"/>
            <a:ext cx="665100" cy="193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p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04125" y="2451400"/>
            <a:ext cx="6740426" cy="180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UNATTENDED OPERATION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Cassette Automation!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pic>
        <p:nvPicPr>
          <p:cNvPr descr="atomica_transparent.png" id="252" name="Google Shape;2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253" name="Google Shape;253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7225" y="2317400"/>
            <a:ext cx="3914775" cy="2933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57925" y="2459688"/>
            <a:ext cx="7333750" cy="212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 txBox="1"/>
          <p:nvPr/>
        </p:nvSpPr>
        <p:spPr>
          <a:xfrm>
            <a:off x="502920" y="109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LOOKING AHEAD</a:t>
            </a:r>
            <a:endParaRPr/>
          </a:p>
        </p:txBody>
      </p:sp>
      <p:sp>
        <p:nvSpPr>
          <p:cNvPr id="264" name="Google Shape;264;p13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Projects Improved so Far</a:t>
            </a:r>
            <a:endParaRPr/>
          </a:p>
        </p:txBody>
      </p:sp>
      <p:sp>
        <p:nvSpPr>
          <p:cNvPr id="265" name="Google Shape;265;p13"/>
          <p:cNvSpPr txBox="1"/>
          <p:nvPr/>
        </p:nvSpPr>
        <p:spPr>
          <a:xfrm>
            <a:off x="457190" y="1310180"/>
            <a:ext cx="5486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13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Lamp, Cenfire, Maddy, </a:t>
            </a:r>
            <a:r>
              <a:rPr b="1" lang="en-US" sz="1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Peanut</a:t>
            </a:r>
            <a:r>
              <a:rPr b="1" lang="en-US" sz="16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and Nautilus</a:t>
            </a:r>
            <a:endParaRPr/>
          </a:p>
        </p:txBody>
      </p:sp>
      <p:sp>
        <p:nvSpPr>
          <p:cNvPr id="266" name="Google Shape;266;p13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pic>
        <p:nvPicPr>
          <p:cNvPr descr="atomica_transparent.png" id="267" name="Google Shape;26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268" name="Google Shape;26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79350" y="2663100"/>
            <a:ext cx="4764249" cy="357227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a5150f59c_1_12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fa5150f59c_1_124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g3fa5150f59c_1_124"/>
          <p:cNvSpPr/>
          <p:nvPr/>
        </p:nvSpPr>
        <p:spPr>
          <a:xfrm>
            <a:off x="0" y="1051560"/>
            <a:ext cx="12191700" cy="50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g3fa5150f59c_1_124"/>
          <p:cNvSpPr txBox="1"/>
          <p:nvPr/>
        </p:nvSpPr>
        <p:spPr>
          <a:xfrm>
            <a:off x="502920" y="109728"/>
            <a:ext cx="9144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LOOKING AHEAD</a:t>
            </a:r>
            <a:endParaRPr/>
          </a:p>
        </p:txBody>
      </p:sp>
      <p:sp>
        <p:nvSpPr>
          <p:cNvPr id="278" name="Google Shape;278;g3fa5150f59c_1_124"/>
          <p:cNvSpPr txBox="1"/>
          <p:nvPr/>
        </p:nvSpPr>
        <p:spPr>
          <a:xfrm>
            <a:off x="457200" y="384048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Main Takeaways</a:t>
            </a:r>
            <a:endParaRPr/>
          </a:p>
        </p:txBody>
      </p:sp>
      <p:sp>
        <p:nvSpPr>
          <p:cNvPr id="279" name="Google Shape;279;g3fa5150f59c_1_124"/>
          <p:cNvSpPr txBox="1"/>
          <p:nvPr/>
        </p:nvSpPr>
        <p:spPr>
          <a:xfrm>
            <a:off x="11368735" y="6446520"/>
            <a:ext cx="5487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pic>
        <p:nvPicPr>
          <p:cNvPr descr="atomica_transparent.png" id="280" name="Google Shape;280;g3fa5150f59c_1_1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2956" y="342875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tto_transparent.png" id="281" name="Google Shape;281;g3fa5150f59c_1_1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0101" y="213501"/>
            <a:ext cx="1111308" cy="59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g3fa5150f59c_1_124"/>
          <p:cNvPicPr preferRelativeResize="0"/>
          <p:nvPr/>
        </p:nvPicPr>
        <p:blipFill rotWithShape="1">
          <a:blip r:embed="rId5">
            <a:alphaModFix/>
          </a:blip>
          <a:srcRect b="0" l="16494" r="17795" t="0"/>
          <a:stretch/>
        </p:blipFill>
        <p:spPr>
          <a:xfrm>
            <a:off x="321500" y="2762550"/>
            <a:ext cx="2939075" cy="222965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83" name="Google Shape;283;g3fa5150f59c_1_124"/>
          <p:cNvSpPr txBox="1"/>
          <p:nvPr/>
        </p:nvSpPr>
        <p:spPr>
          <a:xfrm>
            <a:off x="224750" y="1676400"/>
            <a:ext cx="34908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Equipment using GPIB does not have to be an obstacle.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g3fa5150f59c_1_124"/>
          <p:cNvSpPr txBox="1"/>
          <p:nvPr/>
        </p:nvSpPr>
        <p:spPr>
          <a:xfrm>
            <a:off x="4027750" y="1767175"/>
            <a:ext cx="34908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 software can be a basis for many automation projects, not just probing.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g3fa5150f59c_1_124"/>
          <p:cNvSpPr txBox="1"/>
          <p:nvPr/>
        </p:nvSpPr>
        <p:spPr>
          <a:xfrm>
            <a:off x="8170275" y="1767175"/>
            <a:ext cx="3490800" cy="21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Simplify, consolidate, and futureproof process flows.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a new project can now take a few days instead of weeks.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4"/>
          <p:cNvSpPr/>
          <p:nvPr/>
        </p:nvSpPr>
        <p:spPr>
          <a:xfrm>
            <a:off x="0" y="288036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4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Same hardware. Modern, configurable software.</a:t>
            </a:r>
            <a:endParaRPr/>
          </a:p>
        </p:txBody>
      </p:sp>
      <p:sp>
        <p:nvSpPr>
          <p:cNvPr id="293" name="Google Shape;293;p14"/>
          <p:cNvSpPr txBox="1"/>
          <p:nvPr/>
        </p:nvSpPr>
        <p:spPr>
          <a:xfrm>
            <a:off x="914400" y="3108960"/>
            <a:ext cx="10332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1D5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Questions?</a:t>
            </a:r>
            <a:endParaRPr/>
          </a:p>
        </p:txBody>
      </p:sp>
      <p:sp>
        <p:nvSpPr>
          <p:cNvPr id="294" name="Google Shape;294;p1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pic>
        <p:nvPicPr>
          <p:cNvPr descr="image.png" id="295" name="Google Shape;2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47781" y="365760"/>
            <a:ext cx="1385455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4" title="ottologo7.png"/>
          <p:cNvPicPr preferRelativeResize="0"/>
          <p:nvPr/>
        </p:nvPicPr>
        <p:blipFill rotWithShape="1">
          <a:blip r:embed="rId4">
            <a:alphaModFix/>
          </a:blip>
          <a:srcRect b="29016" l="33754" r="31376" t="25376"/>
          <a:stretch/>
        </p:blipFill>
        <p:spPr>
          <a:xfrm>
            <a:off x="4324950" y="3318763"/>
            <a:ext cx="3188400" cy="3127750"/>
          </a:xfrm>
          <a:prstGeom prst="rect">
            <a:avLst/>
          </a:prstGeom>
          <a:noFill/>
          <a:ln>
            <a:noFill/>
          </a:ln>
          <a:effectLst>
            <a:outerShdw blurRad="342900" rotWithShape="0" algn="bl" dir="5460000" dist="266700">
              <a:srgbClr val="000000">
                <a:alpha val="41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