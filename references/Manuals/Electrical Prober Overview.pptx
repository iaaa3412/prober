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The Electrical Prober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1D5DB"/>
                </a:solidFill>
                <a:latin typeface="Segoe UI"/>
              </a:rPr>
              <a:t>A modern foundation for wafer-probe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9E0B"/>
                </a:solidFill>
                <a:latin typeface="Segoe UI"/>
              </a:rPr>
              <a:t>A non-technical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Segoe UI"/>
              </a:rPr>
              <a:t>Internal Overview</a:t>
            </a:r>
          </a:p>
        </p:txBody>
      </p:sp>
      <p:pic>
        <p:nvPicPr>
          <p:cNvPr id="8" name="Logo Atomica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06" y="365760"/>
            <a:ext cx="1385455" cy="365760"/>
          </a:xfrm>
          <a:prstGeom prst="rect">
            <a:avLst/>
          </a:prstGeom>
        </p:spPr>
      </p:pic>
      <p:pic>
        <p:nvPicPr>
          <p:cNvPr id="9" name="Logo OT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040" y="36576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Why This Project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Our old system was costly and hard to maintain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it depended on aging, specialized software and a shrinking pool of engineers who knew it.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Every new product meant rewriting the program itself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not just changing a setting.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We rebuilt it on modern, open foundations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easier to maintain, extend, and hand off for years to 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2</a:t>
            </a:r>
          </a:p>
        </p:txBody>
      </p:sp>
      <p:sp>
        <p:nvSpPr>
          <p:cNvPr id="9" name="Placeholder Frame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9CA3AF"/>
                </a:solidFill>
                <a:latin typeface="Segoe UI"/>
              </a:rPr>
              <a:t>ADD IMAGE</a:t>
            </a:r>
          </a:p>
        </p:txBody>
      </p:sp>
      <p:sp>
        <p:nvSpPr>
          <p:cNvPr id="10" name="Placeholder Caption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B5563"/>
                </a:solidFill>
                <a:latin typeface="Segoe UI"/>
              </a:rPr>
              <a:t>Suggested: the prober station this project began with</a:t>
            </a:r>
          </a:p>
        </p:txBody>
      </p:sp>
      <p:pic>
        <p:nvPicPr>
          <p:cNvPr id="11" name="Logo Atomica" descr="atomica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2" name="Logo OTTO" descr="ott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What It Does, In Short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In short: it runs a robotic wafer prober and its lab instruments to test every chip on a wafer automatically, and shows results live as it happens.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One application handles the whole job — setup, testing, monitoring, and export — in one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19634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30872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Live view — position, pass/fail, and yield update in real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3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MODERNIZING THE 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One Modern Program, Two Aging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Two different prober brands, from two different eras — each running its own aging control software.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One depended on Windows XP, unsupported for years and a growing security risk.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Now one modern program drives both, with a single switch between them — recipes, results, and exports work the same either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6980" y="1562100"/>
            <a:ext cx="5471160" cy="2975991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electrog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394960" cy="2899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619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The same program, now driving the Electroglas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4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A DIFFERENT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From Rigid to Flexible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The old system had its knowledge buried in code — changing anything meant a software rewrite, by someone who knew the old tool.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Now, probe cards, test steps, and wafer layouts are all built and edited on screen — no programming required.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Bringing up a new product is now a configuration task, not a software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Building a test recipe on screen — no code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5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CONNECTING THE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One Language for Every Instrument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Every instrument speaks a shared, industry-standard language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regardless of age or manufacturer.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The software translates plain requests  —  like “apply 5 volts” or “read the current” — into whatever that instrument needs.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New equipment plugs in without reworking the rest of the program  —  keeping the system future-proof as the bench evolves.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6</a:t>
            </a:r>
          </a:p>
        </p:txBody>
      </p:sp>
      <p:sp>
        <p:nvSpPr>
          <p:cNvPr id="9" name="Placeholder Frame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9CA3AF"/>
                </a:solidFill>
                <a:latin typeface="Segoe UI"/>
              </a:rPr>
              <a:t>ADD IMAGE</a:t>
            </a:r>
          </a:p>
        </p:txBody>
      </p:sp>
      <p:sp>
        <p:nvSpPr>
          <p:cNvPr id="10" name="Placeholder Caption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B5563"/>
                </a:solidFill>
                <a:latin typeface="Segoe UI"/>
              </a:rPr>
              <a:t>Suggested: instruments connected on the bench</a:t>
            </a:r>
          </a:p>
        </p:txBody>
      </p:sp>
      <p:pic>
        <p:nvPicPr>
          <p:cNvPr id="11" name="Logo Atomica" descr="atomica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2" name="Logo OTTO" descr="ott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THE 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Wafer Map: The Foundation Underneath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Before testing starts, the software needs to know the wafer's layout — how many chips, and exactly where.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That map becomes the shared foundation for everything else: the recipe follows it, the live view tracks it, and results are painted directly onto it.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It's a reusable foundation, not just a picture of the wafer.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wafer_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Wafer Builder - the shared map every other screen relies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7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THE CORE IDEA, CONTINUED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Single Biggest Thing to Reuse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Segoe UI"/>
              </a:rPr>
              <a:t>This wafer-map engine is the single most valuable piece to carry into future projects.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4864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Works for any equipment stepping through fixed positions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not just wafers.</a:t>
            </a:r>
          </a:p>
          <a:p>
            <a:pPr>
              <a:spcAft>
                <a:spcPts val="16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Pass/fail visuals and inspection tools come built in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for free, on day one.</a:t>
            </a:r>
          </a:p>
          <a:p>
            <a:pPr>
              <a:spcAft>
                <a:spcPts val="16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A new layout is a data change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not a redesign.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8</a:t>
            </a:r>
          </a:p>
        </p:txBody>
      </p:sp>
      <p:sp>
        <p:nvSpPr>
          <p:cNvPr id="10" name="Placeholder Frame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9CA3AF"/>
                </a:solidFill>
                <a:latin typeface="Segoe UI"/>
              </a:rPr>
              <a:t>ADD IMAGE</a:t>
            </a:r>
          </a:p>
        </p:txBody>
      </p:sp>
      <p:sp>
        <p:nvSpPr>
          <p:cNvPr id="11" name="Placeholder Caption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B5563"/>
                </a:solidFill>
                <a:latin typeface="Segoe UI"/>
              </a:rPr>
              <a:t>Suggested: the same map applied to a different layout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Seeing the Whole Wafer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As each chip is tested, results color in live — so patterns like a bad edge or failing cluster jump out immediately.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Every measurement is saved and can be exported in whatever format the next step needs.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19634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30872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Pass/fail map and data export, in one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9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UNATTENDED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Many Wafers, One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A full cassette of wafers can be loaded, tested, and advanced automatically, one after another.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A yield threshold decides when to keep going and when to pause for a person — so one operator can oversee many wafers at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19634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cas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30872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Unattended, multi-wafer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10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PROJECT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Everything for One Product, in One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Every product gets one self-contained folder — its probe cards, recipes, wafer maps, and settings, all together.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That folder can be copied, backed up, or handed to another bench directly — with nothing to hunt for.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19634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in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30872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Everything for one product, organized in one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11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What We Gained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A safer, supported foundation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no more running on an unsupported operating system.</a:t>
            </a:r>
          </a:p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A flexible, configurable system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new products are a setup task, not a coding project.</a:t>
            </a:r>
          </a:p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Lower cost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no more per-seat software licensing.</a:t>
            </a:r>
          </a:p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Easier to maintain and hand off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a real, reviewable codebase in a language far more engineers already know.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12</a:t>
            </a:r>
          </a:p>
        </p:txBody>
      </p:sp>
      <p:sp>
        <p:nvSpPr>
          <p:cNvPr id="9" name="Placeholder Frame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9CA3AF"/>
                </a:solidFill>
                <a:latin typeface="Segoe UI"/>
              </a:rPr>
              <a:t>ADD IMAGE</a:t>
            </a:r>
          </a:p>
        </p:txBody>
      </p:sp>
      <p:sp>
        <p:nvSpPr>
          <p:cNvPr id="10" name="Placeholder Caption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B5563"/>
                </a:solidFill>
                <a:latin typeface="Segoe UI"/>
              </a:rPr>
              <a:t>Suggested: before-and-after comparison</a:t>
            </a:r>
          </a:p>
        </p:txBody>
      </p:sp>
      <p:pic>
        <p:nvPicPr>
          <p:cNvPr id="11" name="Logo Atomica" descr="atomica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2" name="Logo OTTO" descr="ott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LOOKING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Where Else This Could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Segoe UI"/>
              </a:rPr>
              <a:t>The same foundation — connected instruments plus step-by-step recipes — fits far more than wafer probing.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Other wafer probers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any brand, any bench.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Burn-in and reliability racks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many parts, stepped through the same test sequence.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Functional test benches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circuit boards and modules, not just wafers.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Any process still stuck on old, unsupported tools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a strong candidate for the same rebuild.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13</a:t>
            </a:r>
          </a:p>
        </p:txBody>
      </p:sp>
      <p:sp>
        <p:nvSpPr>
          <p:cNvPr id="10" name="Placeholder Frame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9CA3AF"/>
                </a:solidFill>
                <a:latin typeface="Segoe UI"/>
              </a:rPr>
              <a:t>ADD IMAGE</a:t>
            </a:r>
          </a:p>
        </p:txBody>
      </p:sp>
      <p:sp>
        <p:nvSpPr>
          <p:cNvPr id="11" name="Placeholder Caption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B5563"/>
                </a:solidFill>
                <a:latin typeface="Segoe UI"/>
              </a:rPr>
              <a:t>Suggested: other applications this could support</a:t>
            </a:r>
          </a:p>
        </p:txBody>
      </p:sp>
      <p:pic>
        <p:nvPicPr>
          <p:cNvPr id="12" name="Logo Atomica" descr="atomica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06" y="342900"/>
            <a:ext cx="1385455" cy="365760"/>
          </a:xfrm>
          <a:prstGeom prst="rect">
            <a:avLst/>
          </a:prstGeom>
        </p:spPr>
      </p:pic>
      <p:pic>
        <p:nvPicPr>
          <p:cNvPr id="13" name="Logo OTTO" descr="ott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040" y="34290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Same hardware. Modern, configurable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1D5DB"/>
                </a:solidFill>
                <a:latin typeface="Segoe UI"/>
              </a:rPr>
              <a:t>Questions /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14</a:t>
            </a:r>
          </a:p>
        </p:txBody>
      </p:sp>
      <p:pic>
        <p:nvPicPr>
          <p:cNvPr id="7" name="Logo Atomica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06" y="365760"/>
            <a:ext cx="1385455" cy="365760"/>
          </a:xfrm>
          <a:prstGeom prst="rect">
            <a:avLst/>
          </a:prstGeom>
        </p:spPr>
      </p:pic>
      <p:pic>
        <p:nvPicPr>
          <p:cNvPr id="8" name="Logo OT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040" y="365760"/>
            <a:ext cx="683895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